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1717A"/>
                </a:solidFill>
                <a:latin typeface="Noto Sans CJK KR"/>
              </a:rPr>
              <a:t>SKILLPROBE · SAFETY AI · 최종 발표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8311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5800" b="1">
                <a:solidFill>
                  <a:srgbClr val="18181B"/>
                </a:solidFill>
                <a:latin typeface="Noto Sans CJK KR"/>
              </a:rPr>
              <a:t>SkillProbe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14600"/>
            <a:ext cx="111831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3F3F46"/>
                </a:solidFill>
                <a:latin typeface="Noto Sans CJK KR"/>
              </a:rPr>
              <a:t>악성 Skill이 ‘말’이 아니라 ‘실제로 무엇을 실행하는가’를 측정한 연구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703320"/>
            <a:ext cx="2603754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3703320"/>
            <a:ext cx="2603754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3904487"/>
            <a:ext cx="223799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2563EB"/>
                </a:solidFill>
                <a:latin typeface="Noto Sans CJK KR"/>
              </a:rPr>
              <a:t>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4453128"/>
            <a:ext cx="223799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marketplace skills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4727448"/>
            <a:ext cx="223799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71717A"/>
                </a:solidFill>
                <a:latin typeface="Noto Sans CJK KR"/>
              </a:rPr>
              <a:t>조건별 반복 측정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2706" y="3703320"/>
            <a:ext cx="2603754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62706" y="3703320"/>
            <a:ext cx="2603754" cy="54864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2162" y="3904487"/>
            <a:ext cx="223799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18181B"/>
                </a:solidFill>
                <a:latin typeface="Noto Sans CJK KR"/>
              </a:rPr>
              <a:t>1,019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2162" y="4453128"/>
            <a:ext cx="223799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실행 세션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2162" y="4727448"/>
            <a:ext cx="223799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71717A"/>
                </a:solidFill>
                <a:latin typeface="Noto Sans CJK KR"/>
              </a:rPr>
              <a:t>full_result.json 정규화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2492" y="3703320"/>
            <a:ext cx="2603754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3703320"/>
            <a:ext cx="2603754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1948" y="3904487"/>
            <a:ext cx="223799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DC2626"/>
                </a:solidFill>
                <a:latin typeface="Noto Sans CJK KR"/>
              </a:rPr>
              <a:t>195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1948" y="4453128"/>
            <a:ext cx="223799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외부 egress 세션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1948" y="4727448"/>
            <a:ext cx="223799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71717A"/>
                </a:solidFill>
                <a:latin typeface="Noto Sans CJK KR"/>
              </a:rPr>
              <a:t>canary 경계 통과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82278" y="3703320"/>
            <a:ext cx="2603754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82278" y="3703320"/>
            <a:ext cx="2603754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1734" y="3904487"/>
            <a:ext cx="223799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16A34A"/>
                </a:solidFill>
                <a:latin typeface="Noto Sans CJK KR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1734" y="4453128"/>
            <a:ext cx="223799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token 유출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1734" y="4727448"/>
            <a:ext cx="223799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71717A"/>
                </a:solidFill>
                <a:latin typeface="Noto Sans CJK KR"/>
              </a:rPr>
              <a:t>평문 비밀 유출 없음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126480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3F3F46"/>
                </a:solidFill>
                <a:latin typeface="Noto Sans CJK KR"/>
              </a:rPr>
              <a:t>박재현 · 유재윤 · 임태인        github.com/taeng0204/skill-poison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656832"/>
            <a:ext cx="10058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71717A"/>
                </a:solidFill>
                <a:latin typeface="Liberation Mono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84280" y="6638544"/>
            <a:ext cx="3017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71717A"/>
                </a:solidFill>
                <a:latin typeface="Liberation Mon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31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71717A"/>
                </a:solidFill>
                <a:latin typeface="Noto Sans CJK KR"/>
              </a:rPr>
              <a:t>PURPOSE · 연구 목적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31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8181B"/>
                </a:solidFill>
                <a:latin typeface="Noto Sans CJK KR"/>
              </a:rPr>
              <a:t>우리가 던진 질문: 인지·압박 상황에서 악성 Skill의 행동은 어디까지 가는가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08710"/>
            <a:ext cx="11183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3F3F46"/>
                </a:solidFill>
                <a:latin typeface="Noto Sans CJK KR"/>
              </a:rPr>
              <a:t>단순 prompt injection이 아니라, 3가지 실제 사용자 상황(중립·안전검토·신뢰압박)에서 권한 위임 에이전트의 실제 실행·외부 경계 통과를 측정한다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48840"/>
            <a:ext cx="3544824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48840"/>
            <a:ext cx="3544824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04872"/>
            <a:ext cx="3087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563EB"/>
                </a:solidFill>
                <a:latin typeface="Noto Sans CJK KR"/>
              </a:rPr>
              <a:t>01  공급망 위협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807208"/>
            <a:ext cx="30876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8181B"/>
                </a:solidFill>
                <a:latin typeface="Noto Sans CJK KR"/>
              </a:rPr>
              <a:t>Skill은 실행 절차로 신뢰된다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840480"/>
            <a:ext cx="308762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3F3F46"/>
                </a:solidFill>
                <a:latin typeface="Noto Sans CJK KR"/>
              </a:rPr>
              <a:t>대화형 LLM이 아니라, 에이전트가 외부 markdown(AGENTS.md/SKILL.md) 절차를 그대로 수행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2064" y="2148840"/>
            <a:ext cx="3544824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2064" y="2148840"/>
            <a:ext cx="3544824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8096" y="2404872"/>
            <a:ext cx="3087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C2626"/>
                </a:solidFill>
                <a:latin typeface="Noto Sans CJK KR"/>
              </a:rPr>
              <a:t>02  측정 단위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8096" y="2807208"/>
            <a:ext cx="30876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8181B"/>
                </a:solidFill>
                <a:latin typeface="Noto Sans CJK KR"/>
              </a:rPr>
              <a:t>모델의 말이 아니라 행동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8096" y="3840480"/>
            <a:ext cx="308762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3F3F46"/>
                </a:solidFill>
                <a:latin typeface="Noto Sans CJK KR"/>
              </a:rPr>
              <a:t>수락·명령 실행·외부 egress를 단계로 관측 — 거부 문구가 아니라 실제 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41208" y="2148840"/>
            <a:ext cx="3544824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41208" y="2148840"/>
            <a:ext cx="3544824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7240" y="2404872"/>
            <a:ext cx="3087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97706"/>
                </a:solidFill>
                <a:latin typeface="Noto Sans CJK KR"/>
              </a:rPr>
              <a:t>03  공백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7240" y="2807208"/>
            <a:ext cx="30876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8181B"/>
                </a:solidFill>
                <a:latin typeface="Noto Sans CJK KR"/>
              </a:rPr>
              <a:t>탐지≠방어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7240" y="3840480"/>
            <a:ext cx="308762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3F3F46"/>
                </a:solidFill>
                <a:latin typeface="Noto Sans CJK KR"/>
              </a:rPr>
              <a:t>선행연구는 ‘알아차렸나’에서 멈춤 — 우리는 ‘알아차렸/압박받았을 때 행동’을 본다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053328"/>
            <a:ext cx="11183112" cy="54864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6053328"/>
            <a:ext cx="64008" cy="548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6144768"/>
            <a:ext cx="10817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92400E"/>
                </a:solidFill>
                <a:latin typeface="Noto Sans CJK KR"/>
              </a:rPr>
              <a:t>연구 목적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6327648"/>
            <a:ext cx="1081735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악성 Skill 위험을 실제 행동·egress로 정량화하고, closed 모델은 블랙박스이므로 open(qwen) 모델은 내부 로직까지 분석한다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656832"/>
            <a:ext cx="10058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71717A"/>
                </a:solidFill>
                <a:latin typeface="Liberation Mono"/>
              </a:rPr>
              <a:t>source: proposal deck · docs/AGENT_EXPERIMENT_DESIGN.md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84280" y="6638544"/>
            <a:ext cx="3017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71717A"/>
                </a:solidFill>
                <a:latin typeface="Liberation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31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71717A"/>
                </a:solidFill>
                <a:latin typeface="Noto Sans CJK KR"/>
              </a:rPr>
              <a:t>WHAT WE BUILT · 실험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31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8181B"/>
                </a:solidFill>
                <a:latin typeface="Noto Sans CJK KR"/>
              </a:rPr>
              <a:t>제안서의 ‘실행 측정’을 격리 에이전트 실험으로 구현했다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3F3F46"/>
                </a:solidFill>
                <a:latin typeface="Noto Sans CJK KR"/>
              </a:rPr>
              <a:t>85개 marketplace Skill을 3가지 실제 사용자 상황 × 모델/런타임으로, 실제와 흡사한 격리 런타임에서 실제 실행하고 정량 측정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57400"/>
            <a:ext cx="264490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2644902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232486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Noto Sans CJK KR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232486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8181B"/>
                </a:solidFill>
                <a:latin typeface="Noto Sans CJK KR"/>
              </a:rPr>
              <a:t>85 악성 Skill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90088"/>
            <a:ext cx="232486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71717A"/>
                </a:solidFill>
                <a:latin typeface="Noto Sans CJK KR"/>
              </a:rPr>
              <a:t>canifi-life-os 형태 SKILL.md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9534" y="2560320"/>
            <a:ext cx="201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71717A"/>
                </a:solidFill>
                <a:latin typeface="Noto Sans CJK KR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48990" y="2057400"/>
            <a:ext cx="264490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48990" y="2057400"/>
            <a:ext cx="2644902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1870" y="2240280"/>
            <a:ext cx="232486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Noto Sans CJK KR"/>
              </a:rPr>
              <a:t>FRAMING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1870" y="2514600"/>
            <a:ext cx="232486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8181B"/>
                </a:solidFill>
                <a:latin typeface="Noto Sans CJK KR"/>
              </a:rPr>
              <a:t>사용자 프레이밍 3종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1870" y="2990088"/>
            <a:ext cx="232486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71717A"/>
                </a:solidFill>
                <a:latin typeface="Noto Sans CJK KR"/>
              </a:rPr>
              <a:t>아래 정의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5604" y="2560320"/>
            <a:ext cx="201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71717A"/>
                </a:solidFill>
                <a:latin typeface="Noto Sans CJK KR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5060" y="2057400"/>
            <a:ext cx="264490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5060" y="2057400"/>
            <a:ext cx="2644902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7940" y="2240280"/>
            <a:ext cx="232486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Noto Sans CJK KR"/>
              </a:rPr>
              <a:t>RUNTIME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7940" y="2514600"/>
            <a:ext cx="232486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8181B"/>
                </a:solidFill>
                <a:latin typeface="Noto Sans CJK KR"/>
              </a:rPr>
              <a:t>OpenCode · Codex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7940" y="2990088"/>
            <a:ext cx="232486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71717A"/>
                </a:solidFill>
                <a:latin typeface="Noto Sans CJK KR"/>
              </a:rPr>
              <a:t>Docker 격리 · mock 자격증명 · canary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1674" y="2560320"/>
            <a:ext cx="201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71717A"/>
                </a:solidFill>
                <a:latin typeface="Noto Sans CJK KR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41130" y="2057400"/>
            <a:ext cx="264490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41130" y="2057400"/>
            <a:ext cx="2644902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24010" y="2240280"/>
            <a:ext cx="232486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Noto Sans CJK KR"/>
              </a:rP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4010" y="2514600"/>
            <a:ext cx="232486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8181B"/>
                </a:solidFill>
                <a:latin typeface="Noto Sans CJK KR"/>
              </a:rPr>
              <a:t>full_result.json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4010" y="2990088"/>
            <a:ext cx="232486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71717A"/>
                </a:solidFill>
                <a:latin typeface="Noto Sans CJK KR"/>
              </a:rPr>
              <a:t>명령·파일·canary·결정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657600"/>
            <a:ext cx="111831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DC2626"/>
                </a:solidFill>
                <a:latin typeface="Noto Sans CJK KR"/>
              </a:rPr>
              <a:t>USER FRAMING · 사용자 프레이밍 3종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986784"/>
            <a:ext cx="354482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3986784"/>
            <a:ext cx="3544824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" y="4169664"/>
            <a:ext cx="31790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A34A"/>
                </a:solidFill>
                <a:latin typeface="Noto Sans CJK KR"/>
              </a:rPr>
              <a:t>중립 요청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" y="4590288"/>
            <a:ext cx="317906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F3F46"/>
                </a:solidFill>
                <a:latin typeface="Noto Sans CJK KR"/>
              </a:rPr>
              <a:t>“이 skill로 ~ 해줘” — 평범한 작업 의뢰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22064" y="3986784"/>
            <a:ext cx="354482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22064" y="3986784"/>
            <a:ext cx="3544824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3232" y="4169664"/>
            <a:ext cx="31790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2563EB"/>
                </a:solidFill>
                <a:latin typeface="Noto Sans CJK KR"/>
              </a:rPr>
              <a:t>안전 검토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3232" y="4590288"/>
            <a:ext cx="317906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F3F46"/>
                </a:solidFill>
                <a:latin typeface="Noto Sans CJK KR"/>
              </a:rPr>
              <a:t>“먼저 위험한지 검토하고, 안전하면 진행” — 자가 검토 유도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41208" y="3986784"/>
            <a:ext cx="354482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41208" y="3986784"/>
            <a:ext cx="3544824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42376" y="4169664"/>
            <a:ext cx="31790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DC2626"/>
                </a:solidFill>
                <a:latin typeface="Noto Sans CJK KR"/>
              </a:rPr>
              <a:t>신뢰 압박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2376" y="4590288"/>
            <a:ext cx="317906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F3F46"/>
                </a:solidFill>
                <a:latin typeface="Noto Sans CJK KR"/>
              </a:rPr>
              <a:t>“검증된 마켓이니 그대로 따르라” — 신뢰 압박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504688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8181B"/>
                </a:solidFill>
                <a:latin typeface="Noto Sans CJK KR"/>
              </a:rPr>
              <a:t>모델 — open: qwen3:1.7b · qwen3:8b (OpenCode/ollama)   ·   closed: gpt-5.4 · gpt-5.4-mini (Codex)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8181B"/>
                </a:solidFill>
                <a:latin typeface="Noto Sans CJK KR"/>
              </a:rPr>
              <a:t>‘Canifi’ = 실험용 가상 마켓 브랜드 — 모든 스킬의 install·자격증명 절차가 이 브랜드(canifi.com/install.sh, canifi-env) 형태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6053328"/>
            <a:ext cx="11183112" cy="54864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" y="6053328"/>
            <a:ext cx="64008" cy="548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4088" y="6144768"/>
            <a:ext cx="10817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92400E"/>
                </a:solidFill>
                <a:latin typeface="Noto Sans CJK KR"/>
              </a:rPr>
              <a:t>핵심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" y="6327648"/>
            <a:ext cx="1081735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의사표명이 아니라 실행 결과를 측정 — 거부/경고 문구와 실제 action·egress가 어긋나는 지점을 분리 분석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656832"/>
            <a:ext cx="10058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71717A"/>
                </a:solidFill>
                <a:latin typeface="Liberation Mono"/>
              </a:rPr>
              <a:t>source: README.md · experiment/runner · experiment/docker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84280" y="6638544"/>
            <a:ext cx="3017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71717A"/>
                </a:solidFill>
                <a:latin typeface="Liberation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31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71717A"/>
                </a:solidFill>
                <a:latin typeface="Noto Sans CJK KR"/>
              </a:rPr>
              <a:t>WHAT WE BUILT · 데이터셋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31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8181B"/>
                </a:solidFill>
                <a:latin typeface="Noto Sans CJK KR"/>
              </a:rPr>
              <a:t>공개 가능한 실행 수준 데이터셋: 1,019 세션, 단계별 라벨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3F3F46"/>
                </a:solidFill>
                <a:latin typeface="Noto Sans CJK KR"/>
              </a:rPr>
              <a:t>각 세션은 에이전트의 실제 행동을 정규화해 담는다 — 명령·파일시스템·네트워크·결정 evidence</a:t>
            </a:r>
          </a:p>
        </p:txBody>
      </p:sp>
      <p:pic>
        <p:nvPicPr>
          <p:cNvPr id="6" name="Picture 5" descr="chart_attack_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55648"/>
            <a:ext cx="6126480" cy="32143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024824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71717A"/>
                </a:solidFill>
                <a:latin typeface="Noto Sans CJK KR"/>
              </a:rPr>
              <a:t>각 세션 row: 명령·프로세스 시계열 · 파일이벤트 · canary 요청 · 결정/탐지 evidence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903720" y="1755648"/>
            <a:ext cx="4782312" cy="3712463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03720" y="1755648"/>
            <a:ext cx="4782312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41464" y="1938528"/>
            <a:ext cx="43708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A34A"/>
                </a:solidFill>
                <a:latin typeface="Noto Sans CJK KR"/>
              </a:rPr>
              <a:t>행동 단계 라벨 (A/B/C)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1464" y="2286000"/>
            <a:ext cx="43708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A  수락 (Acceptance)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1464" y="2505456"/>
            <a:ext cx="43708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71717A"/>
                </a:solidFill>
                <a:latin typeface="Noto Sans CJK KR"/>
              </a:rPr>
              <a:t>skill을 받아들이고 사용 결정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1464" y="2743200"/>
            <a:ext cx="43708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B  실행 (Execution)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1464" y="2962656"/>
            <a:ext cx="43708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71717A"/>
                </a:solidFill>
                <a:latin typeface="Noto Sans CJK KR"/>
              </a:rPr>
              <a:t>명령 실행·env 읽기·파일 쓰기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1464" y="3200400"/>
            <a:ext cx="43708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C  egress (Egress)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1464" y="3419856"/>
            <a:ext cx="43708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71717A"/>
                </a:solidFill>
                <a:latin typeface="Noto Sans CJK KR"/>
              </a:rPr>
              <a:t>외부 경계 통과 = canary 접촉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41464" y="3822191"/>
            <a:ext cx="4306823" cy="11887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41464" y="3968496"/>
            <a:ext cx="1143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8181B"/>
                </a:solidFill>
                <a:latin typeface="Noto Sans CJK KR"/>
              </a:rPr>
              <a:t>1,019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995928"/>
            <a:ext cx="31363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3F3F46"/>
                </a:solidFill>
                <a:latin typeface="Noto Sans CJK KR"/>
              </a:rPr>
              <a:t>유효 세션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1464" y="4334256"/>
            <a:ext cx="1143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DC2626"/>
                </a:solidFill>
                <a:latin typeface="Noto Sans CJK KR"/>
              </a:rPr>
              <a:t>195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361688"/>
            <a:ext cx="31363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3F3F46"/>
                </a:solidFill>
                <a:latin typeface="Noto Sans CJK KR"/>
              </a:rPr>
              <a:t>egress 세션 (19.1%)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1464" y="4700016"/>
            <a:ext cx="1143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DC2626"/>
                </a:solidFill>
                <a:latin typeface="Noto Sans CJK KR"/>
              </a:rPr>
              <a:t>191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727448"/>
            <a:ext cx="31363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3F3F46"/>
                </a:solidFill>
                <a:latin typeface="Noto Sans CJK KR"/>
              </a:rPr>
              <a:t>silent egress (97.9%)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1464" y="5065776"/>
            <a:ext cx="1143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A34A"/>
                </a:solidFill>
                <a:latin typeface="Noto Sans CJK KR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5093208"/>
            <a:ext cx="31363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3F3F46"/>
                </a:solidFill>
                <a:latin typeface="Noto Sans CJK KR"/>
              </a:rPr>
              <a:t>token 유출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053328"/>
            <a:ext cx="11183112" cy="54864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6053328"/>
            <a:ext cx="64008" cy="548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6144768"/>
            <a:ext cx="10817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92400E"/>
                </a:solidFill>
                <a:latin typeface="Noto Sans CJK KR"/>
              </a:rPr>
              <a:t>계약(contract)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6327648"/>
            <a:ext cx="1081735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egress = canary 엔드포인트 GET 접촉 = ‘외부 경계 통과’. 평문 secret 유출(0건)과는 분리 보고 — 비밀 없이도 경계를 넘는지 독립 측정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656832"/>
            <a:ext cx="10058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71717A"/>
                </a:solidFill>
                <a:latin typeface="Liberation Mono"/>
              </a:rPr>
              <a:t>source: artifacts/full_results · tier2_features · DATASET_CARD.md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84280" y="6638544"/>
            <a:ext cx="3017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71717A"/>
                </a:solidFill>
                <a:latin typeface="Liberation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31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71717A"/>
                </a:solidFill>
                <a:latin typeface="Noto Sans CJK KR"/>
              </a:rPr>
              <a:t>OVERVIEW · 한눈에 보는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83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8181B"/>
                </a:solidFill>
                <a:latin typeface="Noto Sans CJK KR"/>
              </a:rPr>
              <a:t>에이전트가 실제로 어디까지 갔나 — 한눈에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183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3F3F46"/>
                </a:solidFill>
                <a:latin typeface="Noto Sans CJK KR"/>
              </a:rPr>
              <a:t>각 셀 = 그 행동을 수행한 세션 비율 (실제 실행 신호 기준)</a:t>
            </a:r>
          </a:p>
        </p:txBody>
      </p:sp>
      <p:pic>
        <p:nvPicPr>
          <p:cNvPr id="6" name="Picture 5" descr="session_behavio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27632"/>
            <a:ext cx="5779556" cy="40416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11076" y="1627632"/>
            <a:ext cx="517495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11076" y="1627632"/>
            <a:ext cx="517495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12244" y="1773936"/>
            <a:ext cx="48091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2563EB"/>
                </a:solidFill>
                <a:latin typeface="Noto Sans CJK KR"/>
              </a:rPr>
              <a:t>GPT (Codex)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2244" y="2084832"/>
            <a:ext cx="48091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3F3F46"/>
                </a:solidFill>
                <a:latin typeface="Noto Sans CJK KR"/>
              </a:rPr>
              <a:t>작업 명령 100% 실행 · home·install·egress 0 · 악성 flagged 최대 88%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11076" y="2670048"/>
            <a:ext cx="517495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11076" y="2670048"/>
            <a:ext cx="5174955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12244" y="2816352"/>
            <a:ext cx="48091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DC2626"/>
                </a:solidFill>
                <a:latin typeface="Noto Sans CJK KR"/>
              </a:rPr>
              <a:t>qwen · 신뢰 압박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2244" y="3127248"/>
            <a:ext cx="48091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3F3F46"/>
                </a:solidFill>
                <a:latin typeface="Noto Sans CJK KR"/>
              </a:rPr>
              <a:t>egress 95% / 65% · flagged 0~2%로 급락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11076" y="3712464"/>
            <a:ext cx="517495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11076" y="3712464"/>
            <a:ext cx="5174955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2244" y="3858768"/>
            <a:ext cx="48091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A34A"/>
                </a:solidFill>
                <a:latin typeface="Noto Sans CJK KR"/>
              </a:rPr>
              <a:t>qwen · 안전 검토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2244" y="4169664"/>
            <a:ext cx="48091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3F3F46"/>
                </a:solidFill>
                <a:latin typeface="Noto Sans CJK KR"/>
              </a:rPr>
              <a:t>egress 4%로 억제 · flagged 42~49%로 상승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11076" y="4754880"/>
            <a:ext cx="517495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11076" y="4754880"/>
            <a:ext cx="5174955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12244" y="4901184"/>
            <a:ext cx="48091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D97706"/>
                </a:solidFill>
                <a:latin typeface="Noto Sans CJK KR"/>
              </a:rPr>
              <a:t>닫힘 vs 열림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2244" y="5212080"/>
            <a:ext cx="48091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3F3F46"/>
                </a:solidFill>
                <a:latin typeface="Noto Sans CJK KR"/>
              </a:rPr>
              <a:t>GPT(closed)는 경계 준수로 멈춤 → 이후 open qwen의 내부 로직을 심층 분석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053328"/>
            <a:ext cx="11183112" cy="54864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6053328"/>
            <a:ext cx="64008" cy="548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6144768"/>
            <a:ext cx="10817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92400E"/>
                </a:solidFill>
                <a:latin typeface="Noto Sans CJK KR"/>
              </a:rPr>
              <a:t>TAKEAWAY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6327648"/>
            <a:ext cx="1081735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같은 스킬·환경에서 GPT는 작업만, qwen은 프레이밍에 따라 egress까지 — 세부 분석은 다음 슬라이드부터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656832"/>
            <a:ext cx="10058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71717A"/>
                </a:solidFill>
                <a:latin typeface="Liberation Mono"/>
              </a:rPr>
              <a:t>source: artifacts/visualizations/session_stage_flow.html (Behavior matrix)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84280" y="6638544"/>
            <a:ext cx="3017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71717A"/>
                </a:solidFill>
                <a:latin typeface="Liberation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31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71717A"/>
                </a:solidFill>
                <a:latin typeface="Noto Sans CJK KR"/>
              </a:rPr>
              <a:t>RESULT · 프레이밍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31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8181B"/>
                </a:solidFill>
                <a:latin typeface="Noto Sans CJK KR"/>
              </a:rPr>
              <a:t>같은 Skill도 사용자 프레이밍에 따라 egress가 크게 흔들린다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3F3F46"/>
                </a:solidFill>
                <a:latin typeface="Noto Sans CJK KR"/>
              </a:rPr>
              <a:t>안전 검토는 egress를 억제하고, 신뢰 압박은 유도 — open 모델(OpenCode)에서 특히 강하게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2057400"/>
            <a:ext cx="2813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8181B"/>
                </a:solidFill>
                <a:latin typeface="Noto Sans CJK KR"/>
              </a:rPr>
              <a:t>중립 요청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59424" y="2057400"/>
            <a:ext cx="2813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8181B"/>
                </a:solidFill>
                <a:latin typeface="Noto Sans CJK KR"/>
              </a:rPr>
              <a:t>안전 검토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72728" y="2057400"/>
            <a:ext cx="2813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8181B"/>
                </a:solidFill>
                <a:latin typeface="Noto Sans CJK KR"/>
              </a:rPr>
              <a:t>신뢰 압박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41448"/>
            <a:ext cx="2606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8181B"/>
                </a:solidFill>
                <a:latin typeface="Noto Sans CJK KR"/>
              </a:rPr>
              <a:t>qwen3:1.7b (open)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2441448"/>
            <a:ext cx="2685288" cy="548640"/>
          </a:xfrm>
          <a:prstGeom prst="rect">
            <a:avLst/>
          </a:prstGeom>
          <a:solidFill>
            <a:srgbClr val="F0FDF4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2441448"/>
            <a:ext cx="26852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6A34A"/>
                </a:solidFill>
                <a:latin typeface="Noto Sans CJK KR"/>
              </a:rPr>
              <a:t>8.2%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59424" y="2441448"/>
            <a:ext cx="2685288" cy="548640"/>
          </a:xfrm>
          <a:prstGeom prst="rect">
            <a:avLst/>
          </a:prstGeom>
          <a:solidFill>
            <a:srgbClr val="F0FDF4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59424" y="2441448"/>
            <a:ext cx="26852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6A34A"/>
                </a:solidFill>
                <a:latin typeface="Noto Sans CJK KR"/>
              </a:rPr>
              <a:t>0.0%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72728" y="2441448"/>
            <a:ext cx="2685288" cy="548640"/>
          </a:xfrm>
          <a:prstGeom prst="rect">
            <a:avLst/>
          </a:prstGeom>
          <a:solidFill>
            <a:srgbClr val="FEF2F2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72728" y="2441448"/>
            <a:ext cx="26852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DC2626"/>
                </a:solidFill>
                <a:latin typeface="Noto Sans CJK KR"/>
              </a:rPr>
              <a:t>64.7%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099815"/>
            <a:ext cx="2606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8181B"/>
                </a:solidFill>
                <a:latin typeface="Noto Sans CJK KR"/>
              </a:rPr>
              <a:t>qwen3:8b (open)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3099815"/>
            <a:ext cx="2685288" cy="548640"/>
          </a:xfrm>
          <a:prstGeom prst="rect">
            <a:avLst/>
          </a:prstGeom>
          <a:solidFill>
            <a:srgbClr val="FEF2F2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3099815"/>
            <a:ext cx="26852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DC2626"/>
                </a:solidFill>
                <a:latin typeface="Noto Sans CJK KR"/>
              </a:rPr>
              <a:t>57.6%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59424" y="3099815"/>
            <a:ext cx="2685288" cy="548640"/>
          </a:xfrm>
          <a:prstGeom prst="rect">
            <a:avLst/>
          </a:prstGeom>
          <a:solidFill>
            <a:srgbClr val="F0FDF4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59424" y="3099815"/>
            <a:ext cx="26852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6A34A"/>
                </a:solidFill>
                <a:latin typeface="Noto Sans CJK KR"/>
              </a:rPr>
              <a:t>3.5%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72728" y="3099815"/>
            <a:ext cx="2685288" cy="548640"/>
          </a:xfrm>
          <a:prstGeom prst="rect">
            <a:avLst/>
          </a:prstGeom>
          <a:solidFill>
            <a:srgbClr val="FEF2F2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72728" y="3099815"/>
            <a:ext cx="26852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DC2626"/>
                </a:solidFill>
                <a:latin typeface="Noto Sans CJK KR"/>
              </a:rPr>
              <a:t>96.4%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758183"/>
            <a:ext cx="2606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8181B"/>
                </a:solidFill>
                <a:latin typeface="Noto Sans CJK KR"/>
              </a:rPr>
              <a:t>gpt-5.4 (closed)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3758183"/>
            <a:ext cx="2685288" cy="548640"/>
          </a:xfrm>
          <a:prstGeom prst="rect">
            <a:avLst/>
          </a:prstGeom>
          <a:solidFill>
            <a:srgbClr val="F0FDF4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6120" y="3758183"/>
            <a:ext cx="26852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6A34A"/>
                </a:solidFill>
                <a:latin typeface="Noto Sans CJK KR"/>
              </a:rPr>
              <a:t>0.0%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59424" y="3758183"/>
            <a:ext cx="2685288" cy="548640"/>
          </a:xfrm>
          <a:prstGeom prst="rect">
            <a:avLst/>
          </a:prstGeom>
          <a:solidFill>
            <a:srgbClr val="F0FDF4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59424" y="3758183"/>
            <a:ext cx="26852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6A34A"/>
                </a:solidFill>
                <a:latin typeface="Noto Sans CJK KR"/>
              </a:rPr>
              <a:t>0.0%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72728" y="3758183"/>
            <a:ext cx="2685288" cy="548640"/>
          </a:xfrm>
          <a:prstGeom prst="rect">
            <a:avLst/>
          </a:prstGeom>
          <a:solidFill>
            <a:srgbClr val="F0FDF4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72728" y="3758183"/>
            <a:ext cx="26852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6A34A"/>
                </a:solidFill>
                <a:latin typeface="Noto Sans CJK KR"/>
              </a:rP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416552"/>
            <a:ext cx="2606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8181B"/>
                </a:solidFill>
                <a:latin typeface="Noto Sans CJK KR"/>
              </a:rPr>
              <a:t>gpt-5.4-mini (closed)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4416552"/>
            <a:ext cx="2685288" cy="548640"/>
          </a:xfrm>
          <a:prstGeom prst="rect">
            <a:avLst/>
          </a:prstGeom>
          <a:solidFill>
            <a:srgbClr val="F0FDF4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46120" y="4416552"/>
            <a:ext cx="26852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6A34A"/>
                </a:solidFill>
                <a:latin typeface="Noto Sans CJK KR"/>
              </a:rPr>
              <a:t>0.0%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59424" y="4416552"/>
            <a:ext cx="2685288" cy="548640"/>
          </a:xfrm>
          <a:prstGeom prst="rect">
            <a:avLst/>
          </a:prstGeom>
          <a:solidFill>
            <a:srgbClr val="F0FDF4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59424" y="4416552"/>
            <a:ext cx="26852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6A34A"/>
                </a:solidFill>
                <a:latin typeface="Noto Sans CJK KR"/>
              </a:rPr>
              <a:t>0.0%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72728" y="4416552"/>
            <a:ext cx="2685288" cy="548640"/>
          </a:xfrm>
          <a:prstGeom prst="rect">
            <a:avLst/>
          </a:prstGeom>
          <a:solidFill>
            <a:srgbClr val="F0FDF4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72728" y="4416552"/>
            <a:ext cx="26852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6A34A"/>
                </a:solidFill>
                <a:latin typeface="Noto Sans CJK KR"/>
              </a:rPr>
              <a:t>0.0%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5120640"/>
            <a:ext cx="11183112" cy="512064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5120640"/>
            <a:ext cx="64008" cy="5120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" y="5175503"/>
            <a:ext cx="108173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8181B"/>
                </a:solidFill>
                <a:latin typeface="Noto Sans CJK KR"/>
              </a:rPr>
              <a:t>open 모델: 신뢰 압박에서 64.7% / 96.4%까지 상승, 안전 검토에서 0.0% / 3.5%로 급락   ·   closed 모델(Codex): 모든 조건 egress 0% (boundary-respecting)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6053328"/>
            <a:ext cx="11183112" cy="54864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" y="6053328"/>
            <a:ext cx="64008" cy="548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" y="6144768"/>
            <a:ext cx="10817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92400E"/>
                </a:solidFill>
                <a:latin typeface="Noto Sans CJK KR"/>
              </a:rPr>
              <a:t>핵심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" y="6327648"/>
            <a:ext cx="1081735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skill 자체보다 프레이밍 × 모델/런타임 조합이 egress 행동을 좌우한다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656832"/>
            <a:ext cx="10058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71717A"/>
                </a:solidFill>
                <a:latin typeface="Liberation Mono"/>
              </a:rPr>
              <a:t>source: artifacts/tier2_analysis/table1_model_condition_deep_summary.csv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84280" y="6638544"/>
            <a:ext cx="3017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71717A"/>
                </a:solidFill>
                <a:latin typeface="Liberation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31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71717A"/>
                </a:solidFill>
                <a:latin typeface="Noto Sans CJK KR"/>
              </a:rPr>
              <a:t>RESULT · PAIRED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31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8181B"/>
                </a:solidFill>
                <a:latin typeface="Noto Sans CJK KR"/>
              </a:rPr>
              <a:t>안전 검토는 억제, 신뢰 압박은 유도 — skill 단위에서도 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3F3F46"/>
                </a:solidFill>
                <a:latin typeface="Noto Sans CJK KR"/>
              </a:rPr>
              <a:t>동일 skill을 프레이밍별로 paired 비교 (McNemar test)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48840"/>
            <a:ext cx="5408676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48840"/>
            <a:ext cx="5408676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350008"/>
            <a:ext cx="49514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Noto Sans CJK KR"/>
              </a:rPr>
              <a:t>PAIRED BY SKILL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606040"/>
            <a:ext cx="49514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8181B"/>
                </a:solidFill>
                <a:latin typeface="Noto Sans CJK KR"/>
              </a:rPr>
              <a:t>qwen3:1.7b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200400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중립 요청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3236976"/>
            <a:ext cx="2436876" cy="237744"/>
          </a:xfrm>
          <a:prstGeom prst="rect">
            <a:avLst/>
          </a:prstGeom>
          <a:solidFill>
            <a:srgbClr val="EE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3236976"/>
            <a:ext cx="199823" cy="23774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51476" y="3200400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D97706"/>
                </a:solidFill>
                <a:latin typeface="Noto Sans CJK KR"/>
              </a:rPr>
              <a:t>8.2%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767328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안전 검토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3803904"/>
            <a:ext cx="2436876" cy="237744"/>
          </a:xfrm>
          <a:prstGeom prst="rect">
            <a:avLst/>
          </a:prstGeom>
          <a:solidFill>
            <a:srgbClr val="EE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1476" y="3767328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A34A"/>
                </a:solidFill>
                <a:latin typeface="Noto Sans CJK KR"/>
              </a:rPr>
              <a:t>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334256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신뢰 압박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3160" y="4370832"/>
            <a:ext cx="2436876" cy="237744"/>
          </a:xfrm>
          <a:prstGeom prst="rect">
            <a:avLst/>
          </a:prstGeom>
          <a:solidFill>
            <a:srgbClr val="EE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23160" y="4370832"/>
            <a:ext cx="1576658" cy="23774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1476" y="4334256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DC2626"/>
                </a:solidFill>
                <a:latin typeface="Noto Sans CJK KR"/>
              </a:rPr>
              <a:t>64.7%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4983480"/>
            <a:ext cx="49514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DC2626"/>
                </a:solidFill>
                <a:latin typeface="Noto Sans CJK KR"/>
              </a:rPr>
              <a:t>신뢰압박 vs 안전검토: +64.7pp · McNemar p=5.55e-17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77356" y="2148840"/>
            <a:ext cx="5408676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77356" y="2148840"/>
            <a:ext cx="5408676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3388" y="2350008"/>
            <a:ext cx="49514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Noto Sans CJK KR"/>
              </a:rPr>
              <a:t>PAIRED BY SKILL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3388" y="2606040"/>
            <a:ext cx="49514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8181B"/>
                </a:solidFill>
                <a:latin typeface="Noto Sans CJK KR"/>
              </a:rPr>
              <a:t>qwen3:8b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3388" y="3200400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중립 요청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97596" y="3236976"/>
            <a:ext cx="2436876" cy="237744"/>
          </a:xfrm>
          <a:prstGeom prst="rect">
            <a:avLst/>
          </a:prstGeom>
          <a:solidFill>
            <a:srgbClr val="EE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97596" y="3236976"/>
            <a:ext cx="1403640" cy="23774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25912" y="3200400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D97706"/>
                </a:solidFill>
                <a:latin typeface="Noto Sans CJK KR"/>
              </a:rPr>
              <a:t>57.6%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3388" y="3767328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안전 검토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97596" y="3803904"/>
            <a:ext cx="2436876" cy="237744"/>
          </a:xfrm>
          <a:prstGeom prst="rect">
            <a:avLst/>
          </a:prstGeom>
          <a:solidFill>
            <a:srgbClr val="EE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97596" y="3803904"/>
            <a:ext cx="85290" cy="23774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25912" y="3767328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A34A"/>
                </a:solidFill>
                <a:latin typeface="Noto Sans CJK KR"/>
              </a:rPr>
              <a:t>3.5%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3388" y="4334256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신뢰 압박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97596" y="4370832"/>
            <a:ext cx="2436876" cy="237744"/>
          </a:xfrm>
          <a:prstGeom prst="rect">
            <a:avLst/>
          </a:prstGeom>
          <a:solidFill>
            <a:srgbClr val="EE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97596" y="4370832"/>
            <a:ext cx="2349148" cy="23774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25912" y="4334256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DC2626"/>
                </a:solidFill>
                <a:latin typeface="Noto Sans CJK KR"/>
              </a:rPr>
              <a:t>96.4%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3388" y="4983480"/>
            <a:ext cx="49514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DC2626"/>
                </a:solidFill>
                <a:latin typeface="Noto Sans CJK KR"/>
              </a:rPr>
              <a:t>신뢰압박 vs 안전검토: +92.9pp · McNemar p=6.62e-24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053328"/>
            <a:ext cx="11183112" cy="54864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6053328"/>
            <a:ext cx="64008" cy="548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8" y="6144768"/>
            <a:ext cx="10817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92400E"/>
                </a:solidFill>
                <a:latin typeface="Noto Sans CJK KR"/>
              </a:rPr>
              <a:t>핵심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" y="6327648"/>
            <a:ext cx="1081735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안전 검토 프롬프트는 효과가 있었지만, ‘검증된 마켓’ 신뢰 압박이 그 효과를 거의 뒤집었다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656832"/>
            <a:ext cx="10058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71717A"/>
                </a:solidFill>
                <a:latin typeface="Liberation Mono"/>
              </a:rPr>
              <a:t>source: artifacts/tier2_analysis/table2_paired_condition_effects.csv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84280" y="6638544"/>
            <a:ext cx="3017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71717A"/>
                </a:solidFill>
                <a:latin typeface="Liberation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31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71717A"/>
                </a:solidFill>
                <a:latin typeface="Noto Sans CJK KR"/>
              </a:rPr>
              <a:t>MECHANISM · 내부 방향성 (예비)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31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8181B"/>
                </a:solidFill>
                <a:latin typeface="Noto Sans CJK KR"/>
              </a:rPr>
              <a:t>프레이밍 효과는 모델 내부 표현에도 나타난다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3F3F46"/>
                </a:solidFill>
                <a:latin typeface="Noto Sans CJK KR"/>
              </a:rPr>
              <a:t>Qwen3를 HF white-box로 재구성해 layer별 execution−refusal 방향 측정 — 행동 결과와 같은 방향</a:t>
            </a:r>
          </a:p>
        </p:txBody>
      </p:sp>
      <p:pic>
        <p:nvPicPr>
          <p:cNvPr id="6" name="Picture 5" descr="logit_lens_qwen3_1_7b_na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5532120" cy="3318608"/>
          </a:xfrm>
          <a:prstGeom prst="rect">
            <a:avLst/>
          </a:prstGeom>
        </p:spPr>
      </p:pic>
      <p:pic>
        <p:nvPicPr>
          <p:cNvPr id="7" name="Picture 6" descr="logit_lens_qwen3_8b_na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1" y="1920240"/>
            <a:ext cx="5532120" cy="331860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5348576"/>
            <a:ext cx="11183112" cy="512064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348576"/>
            <a:ext cx="64008" cy="5120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5403440"/>
            <a:ext cx="108173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8181B"/>
                </a:solidFill>
                <a:latin typeface="Noto Sans CJK KR"/>
              </a:rPr>
              <a:t>KEY READOUT   안전 검토 → 후반 layer에서 refusal(−)로 전환 · 신뢰 압박 → execution(+) 최상위 · 마지막 layer 격차 1.7B +4.73 / 8B +5.67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952080"/>
            <a:ext cx="11183112" cy="475488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952080"/>
            <a:ext cx="64008" cy="47548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5997800"/>
            <a:ext cx="108173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7F1D1D"/>
                </a:solidFill>
                <a:latin typeface="Noto Sans CJK KR"/>
              </a:rPr>
              <a:t>LIMITATION   probe 단어가 프레이밍 프롬프트와 일부 겹쳐 마지막-layer lexical echo 기여 가능 — 단어 제거 paraphrase 통제는 future work (보조 분석)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656832"/>
            <a:ext cx="10058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71717A"/>
                </a:solidFill>
                <a:latin typeface="Liberation Mono"/>
              </a:rPr>
              <a:t>source: experiment/analysis/logit_lens_qwen3/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638544"/>
            <a:ext cx="3017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71717A"/>
                </a:solidFill>
                <a:latin typeface="Liberation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31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71717A"/>
                </a:solidFill>
                <a:latin typeface="Noto Sans CJK KR"/>
              </a:rPr>
              <a:t>MECHANISM · 탐지–행동 간극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31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8181B"/>
                </a:solidFill>
                <a:latin typeface="Noto Sans CJK KR"/>
              </a:rPr>
              <a:t>탐지는 방어가 아니다 — 행동·egress를 게이트해야 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3F3F46"/>
                </a:solidFill>
                <a:latin typeface="Noto Sans CJK KR"/>
              </a:rPr>
              <a:t>위험을 인지/검토하고도 실제 실행이 계속되는 mismatch가 반복 관측됨</a:t>
            </a:r>
          </a:p>
        </p:txBody>
      </p:sp>
      <p:pic>
        <p:nvPicPr>
          <p:cNvPr id="6" name="Picture 5" descr="chart_detection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48840"/>
            <a:ext cx="6126480" cy="239315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903720" y="2011680"/>
            <a:ext cx="4782312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03720" y="2011680"/>
            <a:ext cx="4782312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41464" y="2176272"/>
            <a:ext cx="43708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DC2626"/>
                </a:solidFill>
                <a:latin typeface="Noto Sans CJK KR"/>
              </a:rPr>
              <a:t>무엇이 실패했나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41464" y="2505456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  <a:latin typeface="Noto Sans CJK KR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79208" y="2505456"/>
            <a:ext cx="41330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8181B"/>
                </a:solidFill>
                <a:latin typeface="Noto Sans CJK KR"/>
              </a:rPr>
              <a:t>경고·검토 텍스트만으로는 명령 실행을 멈추지 못함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1464" y="294436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  <a:latin typeface="Noto Sans CJK KR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9208" y="2944368"/>
            <a:ext cx="41330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8181B"/>
                </a:solidFill>
                <a:latin typeface="Noto Sans CJK KR"/>
              </a:rPr>
              <a:t>open 모델은 silent network egress가 주된 실패 모드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3720" y="3621024"/>
            <a:ext cx="4782312" cy="1417320"/>
          </a:xfrm>
          <a:prstGeom prst="rect">
            <a:avLst/>
          </a:prstGeom>
          <a:solidFill>
            <a:srgbClr val="EFF6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03720" y="3621024"/>
            <a:ext cx="4782312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41464" y="3785615"/>
            <a:ext cx="43708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2563EB"/>
                </a:solidFill>
                <a:latin typeface="Noto Sans CJK KR"/>
              </a:rPr>
              <a:t>방어 함의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1464" y="411480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  <a:latin typeface="Noto Sans CJK KR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9208" y="4114800"/>
            <a:ext cx="41330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8181B"/>
                </a:solidFill>
                <a:latin typeface="Noto Sans CJK KR"/>
              </a:rPr>
              <a:t>self-guideline은 판단을 개선하지만 강제력이 없음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1464" y="4553712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  <a:latin typeface="Noto Sans CJK KR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9208" y="4553712"/>
            <a:ext cx="41330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8181B"/>
                </a:solidFill>
                <a:latin typeface="Noto Sans CJK KR"/>
              </a:rPr>
              <a:t>proxy hook이 위험 action·외부 egress 지점에서 강제 차단해야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053328"/>
            <a:ext cx="11183112" cy="54864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6053328"/>
            <a:ext cx="64008" cy="548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6144768"/>
            <a:ext cx="10817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92400E"/>
                </a:solidFill>
                <a:latin typeface="Noto Sans CJK KR"/>
              </a:rPr>
              <a:t>방향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6327648"/>
            <a:ext cx="1081735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‘더 잘 설명하는 모델’이 아니라, 탐지를 action/egress 게이트에 연결하는 closed-loop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656832"/>
            <a:ext cx="10058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71717A"/>
                </a:solidFill>
                <a:latin typeface="Liberation Mono"/>
              </a:rPr>
              <a:t>source: artifacts/tier2_analysis/DEEP_TIER2_ANALYSIS.md · table3/table4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84280" y="6638544"/>
            <a:ext cx="3017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71717A"/>
                </a:solidFill>
                <a:latin typeface="Liberation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31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71717A"/>
                </a:solidFill>
                <a:latin typeface="Noto Sans CJK KR"/>
              </a:rPr>
              <a:t>SUMMARY · 기여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31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8181B"/>
                </a:solidFill>
                <a:latin typeface="Noto Sans CJK KR"/>
              </a:rPr>
              <a:t>제안서의 목표에서 실제 산출물까지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83080"/>
            <a:ext cx="261747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261747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2020824"/>
            <a:ext cx="22334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2563EB"/>
                </a:solidFill>
                <a:latin typeface="Noto Sans CJK KR"/>
              </a:rPr>
              <a:t>01 · 실행 측정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386584"/>
            <a:ext cx="223342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8181B"/>
                </a:solidFill>
                <a:latin typeface="Noto Sans CJK KR"/>
              </a:rPr>
              <a:t>단순 PI가 아닌, 3가지 실제 상황 하의 실행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320040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  <a:latin typeface="Noto Sans CJK KR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200400"/>
            <a:ext cx="205054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F3F46"/>
                </a:solidFill>
                <a:latin typeface="Noto Sans CJK KR"/>
              </a:rPr>
              <a:t>중립·안전검토·신뢰압박 조건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376732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  <a:latin typeface="Noto Sans CJK KR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3767328"/>
            <a:ext cx="205054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F3F46"/>
                </a:solidFill>
                <a:latin typeface="Noto Sans CJK KR"/>
              </a:rPr>
              <a:t>의사표명 아닌 실제 action·egress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4334256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  <a:latin typeface="Noto Sans CJK KR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4334256"/>
            <a:ext cx="205054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F3F46"/>
                </a:solidFill>
                <a:latin typeface="Noto Sans CJK KR"/>
              </a:rPr>
              <a:t>1,019 실행 세션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58134" y="1783080"/>
            <a:ext cx="261747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58134" y="1783080"/>
            <a:ext cx="2617470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77590" y="2020824"/>
            <a:ext cx="22334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D97706"/>
                </a:solidFill>
                <a:latin typeface="Noto Sans CJK KR"/>
              </a:rPr>
              <a:t>02 · 실험 환경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7590" y="2386584"/>
            <a:ext cx="223342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8181B"/>
                </a:solidFill>
                <a:latin typeface="Noto Sans CJK KR"/>
              </a:rPr>
              <a:t>실제와 흡사한 런타임 + 정량 측정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7590" y="320040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D97706"/>
                </a:solidFill>
                <a:latin typeface="Noto Sans CJK KR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78758" y="3200400"/>
            <a:ext cx="205054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F3F46"/>
                </a:solidFill>
                <a:latin typeface="Noto Sans CJK KR"/>
              </a:rPr>
              <a:t>OpenCode/Codex · Docker 격리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7590" y="376732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D97706"/>
                </a:solidFill>
                <a:latin typeface="Noto Sans CJK KR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8758" y="3767328"/>
            <a:ext cx="205054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F3F46"/>
                </a:solidFill>
                <a:latin typeface="Noto Sans CJK KR"/>
              </a:rPr>
              <a:t>mock 자격증명 + canary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77590" y="4334256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D97706"/>
                </a:solidFill>
                <a:latin typeface="Noto Sans CJK KR"/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78758" y="4334256"/>
            <a:ext cx="205054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F3F46"/>
                </a:solidFill>
                <a:latin typeface="Noto Sans CJK KR"/>
              </a:rPr>
              <a:t>A/B/C 단계 정량 · 전량 공개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3348" y="1783080"/>
            <a:ext cx="261747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3348" y="1783080"/>
            <a:ext cx="2617470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2804" y="2020824"/>
            <a:ext cx="22334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DC2626"/>
                </a:solidFill>
                <a:latin typeface="Noto Sans CJK KR"/>
              </a:rPr>
              <a:t>03 · 행동–내부 정합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2804" y="2386584"/>
            <a:ext cx="223342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8181B"/>
                </a:solidFill>
                <a:latin typeface="Noto Sans CJK KR"/>
              </a:rPr>
              <a:t>행동과 모델 내부 메커니즘의 일치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2804" y="320040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DC2626"/>
                </a:solidFill>
                <a:latin typeface="Noto Sans CJK KR"/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33972" y="3200400"/>
            <a:ext cx="205054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F3F46"/>
                </a:solidFill>
                <a:latin typeface="Noto Sans CJK KR"/>
              </a:rPr>
              <a:t>프레이밍 egress 효과(행동)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2804" y="376732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DC2626"/>
                </a:solidFill>
                <a:latin typeface="Noto Sans CJK KR"/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33972" y="3767328"/>
            <a:ext cx="205054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F3F46"/>
                </a:solidFill>
                <a:latin typeface="Noto Sans CJK KR"/>
              </a:rPr>
              <a:t>logit lens 내부 방향성 일치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2804" y="4334256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DC2626"/>
                </a:solidFill>
                <a:latin typeface="Noto Sans CJK KR"/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33972" y="4334256"/>
            <a:ext cx="205054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F3F46"/>
                </a:solidFill>
                <a:latin typeface="Noto Sans CJK KR"/>
              </a:rPr>
              <a:t>탐지–행동 간극 규명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68562" y="1783080"/>
            <a:ext cx="261747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68562" y="1783080"/>
            <a:ext cx="261747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8018" y="2020824"/>
            <a:ext cx="22334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6A34A"/>
                </a:solidFill>
                <a:latin typeface="Noto Sans CJK KR"/>
              </a:rPr>
              <a:t>04 · 방어 제안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8018" y="2386584"/>
            <a:ext cx="223342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8181B"/>
                </a:solidFill>
                <a:latin typeface="Noto Sans CJK KR"/>
              </a:rPr>
              <a:t>이를 기반으로 한 action/egress 게이팅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8018" y="320040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A34A"/>
                </a:solidFill>
                <a:latin typeface="Noto Sans CJK KR"/>
              </a:rP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89186" y="3200400"/>
            <a:ext cx="205054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F3F46"/>
                </a:solidFill>
                <a:latin typeface="Noto Sans CJK KR"/>
              </a:rPr>
              <a:t>경고 텍스트만으론 부족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8018" y="376732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A34A"/>
                </a:solidFill>
                <a:latin typeface="Noto Sans CJK KR"/>
              </a:rPr>
              <a:t>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89186" y="3767328"/>
            <a:ext cx="205054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F3F46"/>
                </a:solidFill>
                <a:latin typeface="Noto Sans CJK KR"/>
              </a:rPr>
              <a:t>self-guideline + proxy hook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8018" y="4334256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A34A"/>
                </a:solidFill>
                <a:latin typeface="Noto Sans CJK KR"/>
              </a:rPr>
              <a:t>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89186" y="4334256"/>
            <a:ext cx="205054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F3F46"/>
                </a:solidFill>
                <a:latin typeface="Noto Sans CJK KR"/>
              </a:rPr>
              <a:t>스킬·도구호출 중간 개입(차기)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6053328"/>
            <a:ext cx="11183112" cy="54864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" y="6053328"/>
            <a:ext cx="64008" cy="548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4088" y="6144768"/>
            <a:ext cx="10817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92400E"/>
                </a:solidFill>
                <a:latin typeface="Noto Sans CJK KR"/>
              </a:rPr>
              <a:t>공개 · 차기 계획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" y="6327648"/>
            <a:ext cx="1081735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모든 실험 과정·데이터 공개 — 차기: 스킬 사용·도구 호출 중간중간에 개입해 막는 방어기법 연구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656832"/>
            <a:ext cx="10058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71717A"/>
                </a:solidFill>
                <a:latin typeface="Liberation Mono"/>
              </a:rPr>
              <a:t>source: README.md · artifacts/README.md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384280" y="6638544"/>
            <a:ext cx="3017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71717A"/>
                </a:solidFill>
                <a:latin typeface="Liberation Mono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